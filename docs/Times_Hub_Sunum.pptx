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TIME × GROWITY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E8F0"/>
                </a:solidFill>
                <a:latin typeface="Calibri"/>
              </a:defRPr>
            </a:pPr>
            <a:r>
              <a:t>Time's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97316"/>
                </a:solidFill>
                <a:latin typeface="Calibri"/>
              </a:defRPr>
            </a:pPr>
            <a:r>
              <a:t>Attribution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Multi-channel attribution modelling platformu.</a:t>
            </a:r>
            <a:br/>
            <a:r>
              <a:t>Dijital ve geleneksel medya bütçelerinin gerçek etkisini</a:t>
            </a:r>
            <a:br/>
            <a:r>
              <a:t>veri odaklı ölçen ve optimize eden karar destek sistemi.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5303520"/>
            <a:ext cx="1005840" cy="292608"/>
          </a:xfrm>
          <a:prstGeom prst="roundRect">
            <a:avLst/>
          </a:prstGeom>
          <a:solidFill>
            <a:srgbClr val="13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A5FA"/>
                </a:solidFill>
                <a:latin typeface="Calibri"/>
              </a:defRPr>
            </a:pPr>
            <a:r>
              <a:t>MMM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5303520"/>
            <a:ext cx="1005840" cy="292608"/>
          </a:xfrm>
          <a:prstGeom prst="roundRect">
            <a:avLst/>
          </a:prstGeom>
          <a:solidFill>
            <a:srgbClr val="31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97316"/>
                </a:solidFill>
                <a:latin typeface="Calibri"/>
              </a:defRPr>
            </a:pPr>
            <a:r>
              <a:t>DDA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303520"/>
            <a:ext cx="1005840" cy="292608"/>
          </a:xfrm>
          <a:prstGeom prst="roundRect">
            <a:avLst/>
          </a:prstGeom>
          <a:solidFill>
            <a:srgbClr val="0E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ADE80"/>
                </a:solidFill>
                <a:latin typeface="Calibri"/>
              </a:defRPr>
            </a:pPr>
            <a:r>
              <a:t>Incrementality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5303520"/>
            <a:ext cx="1005840" cy="292608"/>
          </a:xfrm>
          <a:prstGeom prst="roundRect">
            <a:avLst/>
          </a:prstGeom>
          <a:solidFill>
            <a:srgbClr val="26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  <a:latin typeface="Calibri"/>
              </a:defRPr>
            </a:pPr>
            <a:r>
              <a:t>Unified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Bugün bütçe kararları nasıl veriliyor?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Mevcut Durum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500" b="0">
                <a:solidFill>
                  <a:srgbClr val="94A3B8"/>
                </a:solidFill>
                <a:latin typeface="Calibri"/>
              </a:defRPr>
            </a:pPr>
            <a:r>
              <a:t>•  Last-click attribution — son tıklamaya tüm kredi</a:t>
            </a:r>
          </a:p>
          <a:p>
            <a:pPr>
              <a:spcBef>
                <a:spcPts val="800"/>
              </a:spcBef>
              <a:defRPr sz="1500" b="0">
                <a:solidFill>
                  <a:srgbClr val="94A3B8"/>
                </a:solidFill>
                <a:latin typeface="Calibri"/>
              </a:defRPr>
            </a:pPr>
            <a:r>
              <a:t>•  Meta ile Google birbirinin kredisini çalıyor</a:t>
            </a:r>
          </a:p>
          <a:p>
            <a:pPr>
              <a:spcBef>
                <a:spcPts val="800"/>
              </a:spcBef>
              <a:defRPr sz="1500" b="0">
                <a:solidFill>
                  <a:srgbClr val="94A3B8"/>
                </a:solidFill>
                <a:latin typeface="Calibri"/>
              </a:defRPr>
            </a:pPr>
            <a:r>
              <a:t>•  TV, radyo, DOOH etkisi hiç ölçülemiyor</a:t>
            </a:r>
          </a:p>
          <a:p>
            <a:pPr>
              <a:spcBef>
                <a:spcPts val="800"/>
              </a:spcBef>
              <a:defRPr sz="1500" b="0">
                <a:solidFill>
                  <a:srgbClr val="94A3B8"/>
                </a:solidFill>
                <a:latin typeface="Calibri"/>
              </a:defRPr>
            </a:pPr>
            <a:r>
              <a:t>•  Bütçe dağılımı sezgisel, veri odaklı değil</a:t>
            </a:r>
          </a:p>
          <a:p>
            <a:pPr>
              <a:spcBef>
                <a:spcPts val="800"/>
              </a:spcBef>
              <a:defRPr sz="1500" b="0">
                <a:solidFill>
                  <a:srgbClr val="94A3B8"/>
                </a:solidFill>
                <a:latin typeface="Calibri"/>
              </a:defRPr>
            </a:pPr>
            <a:r>
              <a:t>•  Hangi kanalın gerçek satış yarattığı bilinmiyor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828800"/>
            <a:ext cx="512064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Calibri"/>
              </a:defRPr>
            </a:pPr>
            <a:r>
              <a:t>Time's Hub 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146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500" b="0">
                <a:solidFill>
                  <a:srgbClr val="E2E8F0"/>
                </a:solidFill>
                <a:latin typeface="Calibri"/>
              </a:defRPr>
            </a:pPr>
            <a:r>
              <a:t>•  3 farklı model birbirini doğrular</a:t>
            </a:r>
          </a:p>
          <a:p>
            <a:pPr>
              <a:spcBef>
                <a:spcPts val="800"/>
              </a:spcBef>
              <a:defRPr sz="1500" b="0">
                <a:solidFill>
                  <a:srgbClr val="E2E8F0"/>
                </a:solidFill>
                <a:latin typeface="Calibri"/>
              </a:defRPr>
            </a:pPr>
            <a:r>
              <a:t>•  Online + offline tüm kanallar tek çatıda</a:t>
            </a:r>
          </a:p>
          <a:p>
            <a:pPr>
              <a:spcBef>
                <a:spcPts val="800"/>
              </a:spcBef>
              <a:defRPr sz="1500" b="0">
                <a:solidFill>
                  <a:srgbClr val="E2E8F0"/>
                </a:solidFill>
                <a:latin typeface="Calibri"/>
              </a:defRPr>
            </a:pPr>
            <a:r>
              <a:t>•  Kanal bazlı gerçek ROI ölçümü</a:t>
            </a:r>
          </a:p>
          <a:p>
            <a:pPr>
              <a:spcBef>
                <a:spcPts val="800"/>
              </a:spcBef>
              <a:defRPr sz="1500" b="0">
                <a:solidFill>
                  <a:srgbClr val="E2E8F0"/>
                </a:solidFill>
                <a:latin typeface="Calibri"/>
              </a:defRPr>
            </a:pPr>
            <a:r>
              <a:t>•  Veri odaklı bütçe reallocation önerisi</a:t>
            </a:r>
          </a:p>
          <a:p>
            <a:pPr>
              <a:spcBef>
                <a:spcPts val="800"/>
              </a:spcBef>
              <a:defRPr sz="1500" b="0">
                <a:solidFill>
                  <a:srgbClr val="E2E8F0"/>
                </a:solidFill>
                <a:latin typeface="Calibri"/>
              </a:defRPr>
            </a:pPr>
            <a:r>
              <a:t>•  Haftalık otomatik rapor ve erken uyarı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METODOLOJİ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Üç model, tek unified skor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13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0A5FA"/>
                </a:solidFill>
                <a:latin typeface="Calibri"/>
              </a:defRPr>
            </a:pPr>
            <a:r>
              <a:t>MMM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Calibri"/>
              </a:defRPr>
            </a:pPr>
            <a:r>
              <a:t>Marketing Mix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Haftalık harcama verisinden kanal bazlı katkı ayrıştırması. Adstock (carry-over) + saturation (azalan verim) modeli ile her kanalın marjinal getirisini hesaplar.</a:t>
            </a:r>
          </a:p>
          <a:p>
            <a:pPr>
              <a:spcBef>
                <a:spcPts val="1000"/>
              </a:spcBef>
              <a:defRPr sz="1100" b="0">
                <a:solidFill>
                  <a:srgbClr val="E2E8F0"/>
                </a:solidFill>
                <a:latin typeface="Calibri"/>
              </a:defRPr>
            </a:pPr>
            <a:r>
              <a:t>Kapsar: Online + Offline tüm kanallar</a:t>
            </a:r>
          </a:p>
          <a:p>
            <a:pPr>
              <a:spcBef>
                <a:spcPts val="4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Veri: Haftalık spend, impression, GRP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38328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63440" y="2011680"/>
            <a:ext cx="548640" cy="548640"/>
          </a:xfrm>
          <a:prstGeom prst="ellipse">
            <a:avLst/>
          </a:prstGeom>
          <a:solidFill>
            <a:srgbClr val="31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97316"/>
                </a:solidFill>
                <a:latin typeface="Calibri"/>
              </a:defRPr>
            </a:pPr>
            <a:r>
              <a:t>DDA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Calibri"/>
              </a:defRPr>
            </a:pPr>
            <a:r>
              <a:t>Data-Driven Attribution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54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CRM touchpoint verisinden Markov Chain + Shapley Value blend. Her lead'in yolculuğunu analiz ederek kanallara adil kredi dağıtır.</a:t>
            </a:r>
          </a:p>
          <a:p>
            <a:pPr>
              <a:spcBef>
                <a:spcPts val="1000"/>
              </a:spcBef>
              <a:defRPr sz="1100" b="0">
                <a:solidFill>
                  <a:srgbClr val="E2E8F0"/>
                </a:solidFill>
                <a:latin typeface="Calibri"/>
              </a:defRPr>
            </a:pPr>
            <a:r>
              <a:t>Kapsar: Online dijital kanallar</a:t>
            </a:r>
          </a:p>
          <a:p>
            <a:pPr>
              <a:spcBef>
                <a:spcPts val="4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Veri: CRM touchpoint logları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383280" cy="3657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2011680"/>
            <a:ext cx="548640" cy="548640"/>
          </a:xfrm>
          <a:prstGeom prst="ellipse">
            <a:avLst/>
          </a:prstGeom>
          <a:solidFill>
            <a:srgbClr val="0E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ADE80"/>
                </a:solidFill>
                <a:latin typeface="Calibri"/>
              </a:defRPr>
            </a:pPr>
            <a:r>
              <a:t>INC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Calibri"/>
              </a:defRPr>
            </a:pPr>
            <a:r>
              <a:t>Incrementality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546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Geo-lift, holdout ve PSA testleri ile gerçek incremental etkiyi ölçer. Diğer modellerin ürettiği skorları kalibre eden doğrulama katmanı.</a:t>
            </a:r>
          </a:p>
          <a:p>
            <a:pPr>
              <a:spcBef>
                <a:spcPts val="1000"/>
              </a:spcBef>
              <a:defRPr sz="1100" b="0">
                <a:solidFill>
                  <a:srgbClr val="E2E8F0"/>
                </a:solidFill>
                <a:latin typeface="Calibri"/>
              </a:defRPr>
            </a:pPr>
            <a:r>
              <a:t>Kapsar: Test edilen kanallar</a:t>
            </a:r>
          </a:p>
          <a:p>
            <a:pPr>
              <a:spcBef>
                <a:spcPts val="4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Veri: A/B test sonuçları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1069848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77900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97316"/>
                </a:solidFill>
                <a:latin typeface="Consolas"/>
              </a:defRPr>
            </a:pPr>
            <a:r>
              <a:t>Unified Skor  =  DDA × 0.50   +   MMM × 0.35   +   Incrementality × 0.15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NASIL ÇALIŞIR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Veri girişinden aksiyona, 4 adım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800" cy="1920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Calibri"/>
              </a:defRPr>
            </a:pPr>
            <a:r>
              <a:t>ADIM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Veri Yükleme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Haftalık kanal bazlı harcama CSV'si ve CRM touchpoint verisini yükleyin. Sistem otomatik validasyon yapar.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0800" cy="19202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965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Calibri"/>
              </a:defRPr>
            </a:pPr>
            <a:r>
              <a:t>ADIM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Model Çalıştırma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MMM adstock/saturation + DDA Markov/Shapley modelleri otomatik çalışır. Incrementality test sonuçları eklenir.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50800" cy="19202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51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ADIM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Unified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0292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Üç model birleştirilir. Cross-validation: DDA vs MMM sapması &gt;%20 ise uyarı verilir.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114800"/>
            <a:ext cx="52120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114800"/>
            <a:ext cx="50800" cy="192024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251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84FC"/>
                </a:solidFill>
                <a:latin typeface="Calibri"/>
              </a:defRPr>
            </a:pPr>
            <a:r>
              <a:t>ADIM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Bütçe Optimizasyonu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0292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Kanal bazlı ROI'ye göre bütçe reallocation önerisi. Düşük verimli kanallardan yüksek verimli kanallara kaydırma.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CANLI ÖRNEK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PO AutoMatic Filo — 55M TL bütçe, 10 kanal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Kampanya Profili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Toplam Bütçe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t>55M 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Hedef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B2B Filo Başvurusu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77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Online Kanallar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977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Meta, Google, TikTok, LinkedIn, DV360, YouTube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Offline Kanallar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TV (Maç + Haber), Radyo, DOOH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512064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Segment Dağılımı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560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560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Bütçe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560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Pay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971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S1 Hızlı Ölçeklenen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33M 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2971800"/>
            <a:ext cx="1005840" cy="292608"/>
          </a:xfrm>
          <a:prstGeom prst="roundRect">
            <a:avLst/>
          </a:prstGeom>
          <a:solidFill>
            <a:srgbClr val="31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97316"/>
                </a:solidFill>
                <a:latin typeface="Calibri"/>
              </a:defRPr>
            </a:pPr>
            <a:r>
              <a:t>%60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611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S2 Çalışanı Gözeten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611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13.75M 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0" y="3611880"/>
            <a:ext cx="1005840" cy="292608"/>
          </a:xfrm>
          <a:prstGeom prst="roundRect">
            <a:avLst/>
          </a:prstGeom>
          <a:solidFill>
            <a:srgbClr val="13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A5FA"/>
                </a:solidFill>
                <a:latin typeface="Calibri"/>
              </a:defRPr>
            </a:pPr>
            <a:r>
              <a:t>%25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S3 Yaygın Filolu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251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5.5M 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4251960"/>
            <a:ext cx="1005840" cy="292608"/>
          </a:xfrm>
          <a:prstGeom prst="roundRect">
            <a:avLst/>
          </a:prstGeom>
          <a:solidFill>
            <a:srgbClr val="0E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ADE80"/>
                </a:solidFill>
                <a:latin typeface="Calibri"/>
              </a:defRPr>
            </a:pPr>
            <a:r>
              <a:t>%10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892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S4 Rakiple Çalışan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892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2.75M 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4892040"/>
            <a:ext cx="1005840" cy="292608"/>
          </a:xfrm>
          <a:prstGeom prst="roundRect">
            <a:avLst/>
          </a:prstGeom>
          <a:solidFill>
            <a:srgbClr val="26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  <a:latin typeface="Calibri"/>
              </a:defRPr>
            </a:pPr>
            <a:r>
              <a:t>%5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PLATFORM EKRANLARI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Time's Hub — Ana modüller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97316"/>
                </a:solidFill>
                <a:latin typeface="Calibri"/>
              </a:defRPr>
            </a:pPr>
            <a:r>
              <a:t>Unified Rapor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Kanal bazlı DDA + MMM + INC unified skorları, stacked bar grafik ve cross-validation uyarıları tek sayfada.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828800"/>
            <a:ext cx="338328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0A5FA"/>
                </a:solidFill>
                <a:latin typeface="Calibri"/>
              </a:defRPr>
            </a:pPr>
            <a:r>
              <a:t>MMM Çıktıları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5146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Her kanal için adstock carry-over, saturation eğrisi, response model ve decomposition raporu.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338328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ADE80"/>
                </a:solidFill>
                <a:latin typeface="Calibri"/>
              </a:defRPr>
            </a:pPr>
            <a:r>
              <a:t>MTA Paths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146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Top conversion yolculukları, Markov removal effect ve Shapley value atıf dağılımı.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4572000"/>
            <a:ext cx="33832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4709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C084FC"/>
                </a:solidFill>
                <a:latin typeface="Calibri"/>
              </a:defRPr>
            </a:pPr>
            <a:r>
              <a:t>Bütçe Reallocation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51206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Unified skora göre kanal bazlı bütçe kaydırma önerisi. Düşük ROI kanallardan yüksek ROI kanallara otomatik öneri.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4572000"/>
            <a:ext cx="338328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399" y="4709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ADE80"/>
                </a:solidFill>
                <a:latin typeface="Calibri"/>
              </a:defRPr>
            </a:pPr>
            <a:r>
              <a:t>Incrementality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399" y="51206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Geo-lift, holdout, PSA test sonuçları. p-value bazlı anlamlılık testi ve düzeltme faktörleri.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PLATFORM ÖRNEĞİ — MMM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Kanal bazlı adstock &amp; saturation analizi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Adstock (Carry-over) Oranları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Her kanalın reklam harcamasının sonraki haftalara taşan etkisi: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Kanal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Decay (λ)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Etki Süresi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TV (Maç)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t>0.75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2-3 hafta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YouTube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703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t>0.40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1+ hafta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Meta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206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t>0.35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3-5 gün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Google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t>0.10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709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Anlık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DOOH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212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t>0.05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Anlık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577840"/>
            <a:ext cx="475488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961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Consolas"/>
              </a:defRPr>
            </a:pPr>
            <a:r>
              <a:t>adstock[t] = spend[t] + λ × adstock[t-1]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Bu ne anlama geliyor?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514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 TV maç sponsorluğunun etkisi 2-3 hafta devam ediyor — tek haftalık raporlara bakarak TV'nin düşük performans gösterdiğini düşünmek yanıltıcı</a:t>
            </a:r>
          </a:p>
          <a:p>
            <a:pPr>
              <a:spcBef>
                <a:spcPts val="12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 Google Search anlık dönüşüm kanalı — carry-over neredeyse sıfır, ama last-click'te haksız yere tüm krediyi alıyor</a:t>
            </a:r>
          </a:p>
          <a:p>
            <a:pPr>
              <a:spcBef>
                <a:spcPts val="12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 YouTube video etkisi Meta'dan daha uzun sürüyor — video içerik yatırımı gecikmeli ama kalıcı sonuç veriyor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PLATFORM ÖRNEĞİ — DDA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Data-Driven Attribution sonuçları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Top Conversion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Lead'lerin dönüşüm öncesi izlediği en sık kanal sıraları: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#1   Meta → Google → Meta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880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45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880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%72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#2   Google → LinkedIn → 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474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32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474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%65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69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#3   TikTok → Meta → Google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069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28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069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%58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#4   YouTube → Meta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663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22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6634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%55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#5   DV360 → Google → Meta → Google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257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18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5257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%48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Neden iki model birleşiyor?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1460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12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Markov Chain (×0.65): Kanalı yolculuktan çıkarınca dönüşüm ne kadar düşer? Sıraya duyarlı, kritik geçiş noktasını yakalar.</a:t>
            </a:r>
          </a:p>
          <a:p>
            <a:pPr>
              <a:spcBef>
                <a:spcPts val="12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Shapley Value (×0.35): Tüm olası koalisyonlardaki marjinal katkı ortalaması. Oyun teorisi bazlı, matematiksel olarak adil.</a:t>
            </a:r>
          </a:p>
          <a:p>
            <a:pPr>
              <a:spcBef>
                <a:spcPts val="12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Blend neden? Markov tek başına sıra bağımlı, Shapley tek başına sıra görmez. İkisinin birleşimi hem sıra etkisini hem adil dağılımı dengeler.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5303520"/>
            <a:ext cx="475488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532180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Consolas"/>
              </a:defRPr>
            </a:pPr>
            <a:r>
              <a:t>DDA = Markov × 0.65 + Shapley × 0.35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PLATFORM ÖRNEĞİ — UNIFIED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Unified Scoring &amp; Cross-Validation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Neden tek model yetmiyor?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Güçlü Yanı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Zayıf Yanı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MMM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834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Online + offline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Calibri"/>
              </a:defRPr>
            </a:pPr>
            <a:r>
              <a:t>Bireysel journey görmez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DDA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User-level attribution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Calibri"/>
              </a:defRPr>
            </a:pPr>
            <a:r>
              <a:t>Sadece 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INC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931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Calibri"/>
              </a:defRPr>
            </a:pPr>
            <a:r>
              <a:t>Gerçek causal etki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31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Calibri"/>
              </a:defRPr>
            </a:pPr>
            <a:r>
              <a:t>Her kanal test edilemez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Her modelin kör noktasını diğeri kapatır.</a:t>
            </a:r>
            <a:br/>
            <a:r>
              <a:t>Unified skor üçünün güçlü yanlarını birleştirir.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512064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828800"/>
            <a:ext cx="512064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Cross-Validation Uyarısı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514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DDA ile MMM arasındaki sapma &gt;%20 olduğunda sistem otomatik uyarı verir: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291840"/>
            <a:ext cx="4754880" cy="1097280"/>
          </a:xfrm>
          <a:prstGeom prst="roundRect">
            <a:avLst/>
          </a:prstGeom>
          <a:solidFill>
            <a:srgbClr val="1F151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3832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97316"/>
                </a:solidFill>
                <a:latin typeface="Calibri"/>
              </a:defRPr>
            </a:pPr>
            <a:r>
              <a:t>⚠ Meta: DDA skoru %28, MMM skoru %15 — %13 sapma tespit edildi.</a:t>
            </a:r>
            <a:br/>
            <a:r>
              <a:t>Olası neden: last-click inflation veya adstock parametresi kalibrasyonu gerekli.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72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Bu mekanizma, modellerin birbirini doğrulamasını sağlar</a:t>
            </a:r>
            <a:br/>
            <a:r>
              <a:t>ve hatalı bütçe kararı riskini azaltır.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760720"/>
            <a:ext cx="1069848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77900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97316"/>
                </a:solidFill>
                <a:latin typeface="Consolas"/>
              </a:defRPr>
            </a:pPr>
            <a:r>
              <a:t>Unified  =  DDA × 0.50   +   MMM × 0.35   +   INC × 0.15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REKABET ANALİZİ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Google Meridian / Meta Robyn vs Time's 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743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Meridian / Robyn Problemi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Sadece MMM katmanı — DDA ve Incrementality yok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Platform yanlılığı: kendi kanalını iyi gösterir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Offline (TV, radyo, DOOH) entegrasyonu sınırlı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CRM journey verisi kullanmaz</a:t>
            </a:r>
          </a:p>
          <a:p>
            <a:pPr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Cross-validation mekanizması yok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2743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828800"/>
            <a:ext cx="512064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7316"/>
                </a:solidFill>
                <a:latin typeface="Calibri"/>
              </a:defRPr>
            </a:pPr>
            <a:r>
              <a:t>Time's Hub Farkı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•  3 model katmanı: MMM + DDA + Incrementality</a:t>
            </a:r>
          </a:p>
          <a:p>
            <a:pPr>
              <a:spcBef>
                <a:spcPts val="6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•  Platform bağımsız, tarafsız ölçüm</a:t>
            </a:r>
          </a:p>
          <a:p>
            <a:pPr>
              <a:spcBef>
                <a:spcPts val="6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•  Online + offline tüm kanallar tek çatıda</a:t>
            </a:r>
          </a:p>
          <a:p>
            <a:pPr>
              <a:spcBef>
                <a:spcPts val="6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•  CRM touchpoint verisiyle user-level attribution</a:t>
            </a:r>
          </a:p>
          <a:p>
            <a:pPr>
              <a:spcBef>
                <a:spcPts val="6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•  Cross-validation: DDA vs MMM sapma uyarısı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6984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Özellik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Meridian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Robyn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Time's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66360"/>
            <a:ext cx="2743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MMM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16636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✓ Bayesian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6636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✓ Ridge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166360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Calibri"/>
              </a:defRPr>
            </a:pPr>
            <a:r>
              <a:t>✓ Adstock + Hill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76672"/>
            <a:ext cx="2743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DDA (Markov + Shapley)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3766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766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376672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86984"/>
            <a:ext cx="2743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Incrementality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58698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58698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586984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Calibri"/>
              </a:defRPr>
            </a:pPr>
            <a:r>
              <a:t>✓ (Faz 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797296"/>
            <a:ext cx="2743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Cross-Validation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79729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79729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797296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Calibri"/>
              </a:defRPr>
            </a:pPr>
            <a:r>
              <a:t>✓ &gt;%20 uyarı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6007608"/>
            <a:ext cx="2743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CRM Journey Analizi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60076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60076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007608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6217920"/>
            <a:ext cx="2743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Tarafsızlık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21792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Google yanlı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21792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Meta yanlı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217920"/>
            <a:ext cx="2286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Calibri"/>
              </a:defRPr>
            </a:pPr>
            <a:r>
              <a:t>✓ Bağımsız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KATMA DEĞER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Time's Hub ne kazandırır?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7316"/>
                </a:solidFill>
                <a:latin typeface="Calibri"/>
              </a:defRPr>
            </a:pPr>
            <a:r>
              <a:t>₺  Bütçe Optimizasyonu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Düşük ROI kanallardan yüksek ROI kanallara veri odaklı kaydırma. Aynı bütçeyle daha fazla lead.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38328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0A5FA"/>
                </a:solidFill>
                <a:latin typeface="Calibri"/>
              </a:defRPr>
            </a:pPr>
            <a:r>
              <a:t>🔍  Şeffaflık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146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Her kanalın gerçek katkısı veri ile kanıtlanır. Platform raporlarına bağımlılık azalır.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38328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Calibri"/>
              </a:defRPr>
            </a:pPr>
            <a:r>
              <a:t>⚡  Hız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5146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Haftalık otomatik rapor. Manuel Excel analizi yerine gerçek zamanlı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12064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Ajans için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74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Müşteriye veri destekli strateji sunma kapasitesi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Platform bağımsız, tarafsız ölçüm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Yeni müşteri pitch'lerinde rekabet avantajı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Birden fazla müşteri/kampanyayı tek platformda yönetme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572000"/>
            <a:ext cx="512064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Müşteri (Reklamveren) için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074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Bütçe israfının veri ile tespiti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Online ve offline birlikte ölçüm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Incrementality test ile kanıtlanmış ROI</a:t>
            </a:r>
          </a:p>
          <a:p>
            <a:pPr>
              <a:spcBef>
                <a:spcPts val="4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Haftalık karar desteği ile çevik kampanya yönetimi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ÖLÇEKLENEBİLİRLİK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Tek platform, tüm müşteriler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Time's Hub sadece tek bir kampanya için değil — tüm müşteri portföyünü yönetmek için tasarlandı.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640080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Aktif Müşteriler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Müşteri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Kampanyalar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Petrol Ofisi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3832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Premium Market, AutoMatic Filo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EnerjiSA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8862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30.Yıl İletişimi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Uludağ İçecek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389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Limonata, Premium Su, Soda, Frutti, Portakallı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UNICEF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8920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6 Şubat Deprem, Dünya Kız Çocukları Günü, Dünya Günü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Hayhay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394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POS Cihazı, Dijital Cüzdan, Tüketici Finansmanı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897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TLC/Gree Klima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897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Sevgililer Günü, Yaz'a Merhaba, Kış Kampanyası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2377440"/>
            <a:ext cx="38404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20" y="2377440"/>
            <a:ext cx="384048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560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Her workspace'te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0632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Ayrı veri yükleme ve model çalıştırma</a:t>
            </a:r>
          </a:p>
          <a:p>
            <a:pPr>
              <a:spcBef>
                <a:spcPts val="8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Kampanyaya özel bütçe ve kanal seti</a:t>
            </a:r>
          </a:p>
          <a:p>
            <a:pPr>
              <a:spcBef>
                <a:spcPts val="8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İzole unified scoring ve rapor</a:t>
            </a:r>
          </a:p>
          <a:p>
            <a:pPr>
              <a:spcBef>
                <a:spcPts val="8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 Müşteriler arası karşılaştırma imkanı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6 müşteri × 16 kampanya halihazırda tanımlı. Yeni müşteri eklemek tek tıklama.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YOL HARİTASI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Geliştirme fazları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737360"/>
            <a:ext cx="941832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737360"/>
            <a:ext cx="50800" cy="7772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45920" y="1984248"/>
            <a:ext cx="1005840" cy="292608"/>
          </a:xfrm>
          <a:prstGeom prst="roundRect">
            <a:avLst/>
          </a:prstGeom>
          <a:solidFill>
            <a:srgbClr val="0E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ADE80"/>
                </a:solidFill>
                <a:latin typeface="Calibri"/>
              </a:defRPr>
            </a:pPr>
            <a:r>
              <a:t>FAZ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Calibri"/>
              </a:defRPr>
            </a:pPr>
            <a:r>
              <a:t>Veri Altyapısı + MMM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67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Haftalık CSV yükleme, adstock/saturation/response model, kanal decomposition.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9842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✓ Tamamlandı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697480"/>
            <a:ext cx="941832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2697480"/>
            <a:ext cx="50800" cy="7772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45920" y="2944368"/>
            <a:ext cx="1005840" cy="292608"/>
          </a:xfrm>
          <a:prstGeom prst="roundRect">
            <a:avLst/>
          </a:prstGeom>
          <a:solidFill>
            <a:srgbClr val="0E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ADE80"/>
                </a:solidFill>
                <a:latin typeface="Calibri"/>
              </a:defRPr>
            </a:pPr>
            <a:r>
              <a:t>FAZ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Calibri"/>
              </a:defRPr>
            </a:pPr>
            <a:r>
              <a:t>DDA Markov + Shapley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272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CRM touchpoint analizi, Markov chain, Shapley value, DDA blend.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443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✓ Tamamlandı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657600"/>
            <a:ext cx="941832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3657600"/>
            <a:ext cx="50800" cy="7772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45920" y="3904487"/>
            <a:ext cx="1005840" cy="292608"/>
          </a:xfrm>
          <a:prstGeom prst="roundRect">
            <a:avLst/>
          </a:prstGeom>
          <a:solidFill>
            <a:srgbClr val="0E2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ADE80"/>
                </a:solidFill>
                <a:latin typeface="Calibri"/>
              </a:defRPr>
            </a:pPr>
            <a:r>
              <a:t>FAZ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Calibri"/>
              </a:defRPr>
            </a:pPr>
            <a:r>
              <a:t>Unified Scoring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0873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Unified rapor, cross-validation, bütçe reallocation, multi-client workspace, güvenlik.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90448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✓ Tamamlandı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617720"/>
            <a:ext cx="941832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1600" y="4617720"/>
            <a:ext cx="50800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45920" y="4864608"/>
            <a:ext cx="1005840" cy="292608"/>
          </a:xfrm>
          <a:prstGeom prst="roundRect">
            <a:avLst/>
          </a:prstGeom>
          <a:solidFill>
            <a:srgbClr val="3117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97316"/>
                </a:solidFill>
                <a:latin typeface="Calibri"/>
              </a:defRPr>
            </a:pPr>
            <a:r>
              <a:t>FAZ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709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Calibri"/>
              </a:defRPr>
            </a:pPr>
            <a:r>
              <a:t>Incrementality Testing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0474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Geo-lift, holdout, PSA test motoru, otomatik kalibrasyon.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864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t>Sırada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577840"/>
            <a:ext cx="941832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71600" y="5577840"/>
            <a:ext cx="50800" cy="7772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45920" y="5824727"/>
            <a:ext cx="1005840" cy="292608"/>
          </a:xfrm>
          <a:prstGeom prst="roundRect">
            <a:avLst/>
          </a:prstGeom>
          <a:solidFill>
            <a:srgbClr val="14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FAZ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669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Calibri"/>
              </a:defRPr>
            </a:pPr>
            <a:r>
              <a:t>Gerçek Veri Entegrasyonu &amp;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600760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Meta/Google/DV360 API bağlantısı, otomatik veri çekme, canlı rapor.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8247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  <a:latin typeface="Calibri"/>
              </a:defRPr>
            </a:pPr>
            <a:r>
              <a:t>Planlanıyor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E8F0"/>
                </a:solidFill>
                <a:latin typeface="Calibri"/>
              </a:defRPr>
            </a:pPr>
            <a:r>
              <a:t>Time's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97316"/>
                </a:solidFill>
                <a:latin typeface="Calibri"/>
              </a:defRPr>
            </a:pPr>
            <a:r>
              <a:t>Attribution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Medya bütçenizin her kuruşunun nereye gittiğini bilin.</a:t>
            </a:r>
            <a:br/>
            <a:r>
              <a:t>Sezgi yerine veri, tahmin yerine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4754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5257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Model Katmanı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754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5257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Kanal Desteği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754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DE8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257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Unified Skor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TIME × GROWITY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